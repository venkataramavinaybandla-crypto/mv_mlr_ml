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011680"/>
            <a:ext cx="5943600" cy="5943600"/>
          </a:xfrm>
          <a:prstGeom prst="ellipse">
            <a:avLst/>
          </a:prstGeom>
          <a:ln w="15875">
            <a:solidFill>
              <a:srgbClr val="8A7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-1097280"/>
            <a:ext cx="4114800" cy="4114800"/>
          </a:xfrm>
          <a:prstGeom prst="ellipse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194560" y="4206240"/>
            <a:ext cx="3840480" cy="3840480"/>
          </a:xfrm>
          <a:prstGeom prst="ellipse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kern="0" spc="200" dirty="0">
                <a:solidFill>
                  <a:srgbClr val="FFC7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MACHINE LEARNING  ·  25SC2107E  ·  Y25 TRIMESTER 4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 STATE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6324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Multi-Class Match Result Prediction Using Multinomial Logistic Regression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405993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SECTION NO.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42976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09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4612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4059936"/>
            <a:ext cx="20116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NO.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4297680"/>
            <a:ext cx="20116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21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22960" y="507492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51937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TEAM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5468112"/>
            <a:ext cx="35661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Vinay Bandla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 2520030437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5468112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Pujith Pavan Kumar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Roll No. 2520030029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06840" y="5074920"/>
            <a:ext cx="2331720" cy="1234440"/>
          </a:xfrm>
          <a:prstGeom prst="roundRect">
            <a:avLst>
              <a:gd name="adj" fmla="val 5926"/>
            </a:avLst>
          </a:prstGeom>
          <a:solidFill>
            <a:srgbClr val="FFC72C"/>
          </a:solidFill>
        </p:spPr>
      </p:sp>
      <p:sp>
        <p:nvSpPr>
          <p:cNvPr id="19" name="Text 17"/>
          <p:cNvSpPr txBox="1"/>
          <p:nvPr/>
        </p:nvSpPr>
        <p:spPr>
          <a:xfrm>
            <a:off x="9235440" y="5193792"/>
            <a:ext cx="1920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1414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GUIDE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235440" y="5577840"/>
            <a:ext cx="192024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1414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Rani Medidha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 ·  Department of CSE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65836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600200"/>
            <a:ext cx="603504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Sports prediction is usually guesswork — broadcasters and fantasy platforms lean on gut feel, not data.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7863840" cy="2926080"/>
          </a:xfrm>
          <a:prstGeom prst="roundRect">
            <a:avLst>
              <a:gd name="adj" fmla="val 2500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78992" y="3337560"/>
            <a:ext cx="7351776" cy="2651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 replaces intuition with Multinomial Logistic Regression — a statistical classifier that scores three outcomes at once (Win, Loss, Draw) instead of forcing a binary call. Trained on historical fixtures using team form, head-to-head records, and home advantage, it learns feature–outcome relationships and outputs calibrated probabilities for any future match. The pipeline spans pre-processing, feature engineering, training, and evaluation via accuracy, precision, recall, and confusion matrices — surfaced through an explainable, interactive interface.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006840" y="1600200"/>
            <a:ext cx="2331720" cy="4526280"/>
          </a:xfrm>
          <a:prstGeom prst="roundRect">
            <a:avLst>
              <a:gd name="adj" fmla="val 3137"/>
            </a:avLst>
          </a:prstGeom>
          <a:solidFill>
            <a:srgbClr val="FFC72C"/>
          </a:solidFill>
        </p:spPr>
      </p:sp>
      <p:sp>
        <p:nvSpPr>
          <p:cNvPr id="9" name="Text 7"/>
          <p:cNvSpPr txBox="1"/>
          <p:nvPr/>
        </p:nvSpPr>
        <p:spPr>
          <a:xfrm>
            <a:off x="9006840" y="1828800"/>
            <a:ext cx="233172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41414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6400" dirty="0"/>
          </a:p>
        </p:txBody>
      </p:sp>
      <p:sp>
        <p:nvSpPr>
          <p:cNvPr id="10" name="Text 8"/>
          <p:cNvSpPr txBox="1"/>
          <p:nvPr/>
        </p:nvSpPr>
        <p:spPr>
          <a:xfrm>
            <a:off x="9189720" y="2971800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50" dirty="0">
                <a:solidFill>
                  <a:srgbClr val="1414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OUTCOME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372600" y="3611880"/>
            <a:ext cx="1600200" cy="0"/>
          </a:xfrm>
          <a:prstGeom prst="line">
            <a:avLst/>
          </a:prstGeom>
          <a:noFill/>
          <a:ln w="12700">
            <a:solidFill>
              <a:srgbClr val="141414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35440" y="3794760"/>
            <a:ext cx="1874520" cy="2103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1414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 · Draw · Loss modelled as a single softmax distribution — not three separate guesses.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024128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Raw fixture data flows through feature engineering into a softmax-activated multinomial estimator, producing live win / draw / loss probabilities.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60520" y="1481328"/>
            <a:ext cx="384048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60520" y="1481328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Kaggle / SQLite Historical Data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98464" y="1938528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9" name="Shape 7"/>
          <p:cNvSpPr/>
          <p:nvPr/>
        </p:nvSpPr>
        <p:spPr>
          <a:xfrm>
            <a:off x="3703320" y="2103120"/>
            <a:ext cx="4754880" cy="402336"/>
          </a:xfrm>
          <a:prstGeom prst="roundRect">
            <a:avLst>
              <a:gd name="adj" fmla="val 11364"/>
            </a:avLst>
          </a:prstGeom>
          <a:solidFill>
            <a:srgbClr val="252017"/>
          </a:solidFill>
          <a:ln w="12700">
            <a:solidFill>
              <a:srgbClr val="8A702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703320" y="2103120"/>
            <a:ext cx="47548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7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Extraction &amp; Standardizer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98464" y="2560320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12" name="Shape 10"/>
          <p:cNvSpPr/>
          <p:nvPr/>
        </p:nvSpPr>
        <p:spPr>
          <a:xfrm>
            <a:off x="982980" y="2724912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82980" y="2724912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Home / Away Advantage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57700" y="2724912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7700" y="2724912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Recent Form Momentum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932420" y="2724912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32420" y="2724912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Head-to-Head Ratio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98464" y="3182112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19" name="Shape 17"/>
          <p:cNvSpPr/>
          <p:nvPr/>
        </p:nvSpPr>
        <p:spPr>
          <a:xfrm>
            <a:off x="4160520" y="3346704"/>
            <a:ext cx="3840480" cy="402336"/>
          </a:xfrm>
          <a:prstGeom prst="roundRect">
            <a:avLst>
              <a:gd name="adj" fmla="val 11364"/>
            </a:avLst>
          </a:prstGeom>
          <a:solidFill>
            <a:srgbClr val="252017"/>
          </a:solidFill>
          <a:ln w="12700">
            <a:solidFill>
              <a:srgbClr val="8A70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160520" y="334670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7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Softmax Linear 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8464" y="3803904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22" name="Shape 20"/>
          <p:cNvSpPr/>
          <p:nvPr/>
        </p:nvSpPr>
        <p:spPr>
          <a:xfrm>
            <a:off x="3931920" y="3968496"/>
            <a:ext cx="4297680" cy="448056"/>
          </a:xfrm>
          <a:prstGeom prst="roundRect">
            <a:avLst>
              <a:gd name="adj" fmla="val 10204"/>
            </a:avLst>
          </a:prstGeom>
          <a:solidFill>
            <a:srgbClr val="FFC72C"/>
          </a:solidFill>
        </p:spPr>
      </p:sp>
      <p:sp>
        <p:nvSpPr>
          <p:cNvPr id="23" name="Text 21"/>
          <p:cNvSpPr txBox="1"/>
          <p:nvPr/>
        </p:nvSpPr>
        <p:spPr>
          <a:xfrm>
            <a:off x="3931920" y="3968496"/>
            <a:ext cx="4297680" cy="4480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Multinomial Estimator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98464" y="4471416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25" name="Shape 23"/>
          <p:cNvSpPr/>
          <p:nvPr/>
        </p:nvSpPr>
        <p:spPr>
          <a:xfrm>
            <a:off x="982980" y="4636008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FFC72C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82980" y="4636008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141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457700" y="4636008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457700" y="4636008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Draw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932420" y="4636008"/>
            <a:ext cx="324612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32420" y="4636008"/>
            <a:ext cx="324612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98464" y="5093208"/>
            <a:ext cx="164592" cy="146304"/>
          </a:xfrm>
          <a:prstGeom prst="downArrow">
            <a:avLst/>
          </a:prstGeom>
          <a:solidFill>
            <a:srgbClr val="FFC72C"/>
          </a:solidFill>
        </p:spPr>
      </p:sp>
      <p:sp>
        <p:nvSpPr>
          <p:cNvPr id="32" name="Shape 30"/>
          <p:cNvSpPr/>
          <p:nvPr/>
        </p:nvSpPr>
        <p:spPr>
          <a:xfrm>
            <a:off x="4160520" y="5257800"/>
            <a:ext cx="3840480" cy="402336"/>
          </a:xfrm>
          <a:prstGeom prst="roundRect">
            <a:avLst>
              <a:gd name="adj" fmla="val 11364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160520" y="5257800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Streamlit Interactive Interface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VECTOR — X ∈ ℝ⁹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" y="1316736"/>
            <a:ext cx="6138701" cy="4590288"/>
          </a:xfrm>
          <a:prstGeom prst="roundRect">
            <a:avLst>
              <a:gd name="adj" fmla="val 1793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22960" y="1371600"/>
            <a:ext cx="6028973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27048"/>
            <a:ext cx="6028973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8" name="Shape 6"/>
          <p:cNvSpPr/>
          <p:nvPr/>
        </p:nvSpPr>
        <p:spPr>
          <a:xfrm>
            <a:off x="950976" y="148590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1124712" y="148590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0" name="Shape 8"/>
          <p:cNvSpPr/>
          <p:nvPr/>
        </p:nvSpPr>
        <p:spPr>
          <a:xfrm>
            <a:off x="1298448" y="148590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1" name="Image 0" descr="img_featur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6028973" cy="41696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1371600"/>
            <a:ext cx="6028973" cy="44805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1508760"/>
            <a:ext cx="2916936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Nine standardized signals — win rates, recent form, head-to-head ratio, home advantage, and toss outcome — are packed into one input vector before the model ever sees a fixture.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LEARNED MODEL PARAMETERS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508760"/>
            <a:ext cx="2916936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Scikit-learn fits a 3×9 weight matrix and three bias terms — one row per class — mapping every feature to its pull on Win, Draw, and Loss.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53128" y="1316736"/>
            <a:ext cx="6967728" cy="4096893"/>
          </a:xfrm>
          <a:prstGeom prst="roundRect">
            <a:avLst>
              <a:gd name="adj" fmla="val 2009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4507992" y="1371600"/>
            <a:ext cx="6858000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1527048"/>
            <a:ext cx="6858000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10" name="Shape 8"/>
          <p:cNvSpPr/>
          <p:nvPr/>
        </p:nvSpPr>
        <p:spPr>
          <a:xfrm>
            <a:off x="4636008" y="148590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1" name="Shape 9"/>
          <p:cNvSpPr/>
          <p:nvPr/>
        </p:nvSpPr>
        <p:spPr>
          <a:xfrm>
            <a:off x="4809744" y="148590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2" name="Shape 10"/>
          <p:cNvSpPr/>
          <p:nvPr/>
        </p:nvSpPr>
        <p:spPr>
          <a:xfrm>
            <a:off x="4983480" y="148590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3" name="Image 0" descr="img_weigh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07992" y="1682496"/>
            <a:ext cx="6858000" cy="367626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507992" y="1371600"/>
            <a:ext cx="6858000" cy="3987165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LOGIT CALCULATION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" y="1316736"/>
            <a:ext cx="4733748" cy="4590288"/>
          </a:xfrm>
          <a:prstGeom prst="roundRect">
            <a:avLst>
              <a:gd name="adj" fmla="val 1793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22960" y="1371600"/>
            <a:ext cx="4624020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27048"/>
            <a:ext cx="4624020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8" name="Shape 6"/>
          <p:cNvSpPr/>
          <p:nvPr/>
        </p:nvSpPr>
        <p:spPr>
          <a:xfrm>
            <a:off x="950976" y="148590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1124712" y="148590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0" name="Shape 8"/>
          <p:cNvSpPr/>
          <p:nvPr/>
        </p:nvSpPr>
        <p:spPr>
          <a:xfrm>
            <a:off x="1298448" y="148590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1" name="Image 0" descr="img_logi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4624020" cy="41696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1371600"/>
            <a:ext cx="4624020" cy="44805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1508760"/>
            <a:ext cx="2916936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class score zₖ is a weighted sum of the nine features plus a bias — the raw, unbounded log-odds before probability enters the picture.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SOFTMAX PROBABILITIES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2296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78992" y="1508760"/>
            <a:ext cx="2916936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Softmax exponentiates and normalizes the three logits into probabilities that sum to exactly 100% — RCB 50.2%, CSK 49.7%, tie a razor-thin 0.1%.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22145" y="1316736"/>
            <a:ext cx="4598711" cy="4590288"/>
          </a:xfrm>
          <a:prstGeom prst="roundRect">
            <a:avLst>
              <a:gd name="adj" fmla="val 1793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8" name="Shape 6"/>
          <p:cNvSpPr/>
          <p:nvPr/>
        </p:nvSpPr>
        <p:spPr>
          <a:xfrm>
            <a:off x="6877009" y="1371600"/>
            <a:ext cx="4488983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77009" y="1527048"/>
            <a:ext cx="4488983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10" name="Shape 8"/>
          <p:cNvSpPr/>
          <p:nvPr/>
        </p:nvSpPr>
        <p:spPr>
          <a:xfrm>
            <a:off x="7005025" y="148590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1" name="Shape 9"/>
          <p:cNvSpPr/>
          <p:nvPr/>
        </p:nvSpPr>
        <p:spPr>
          <a:xfrm>
            <a:off x="7178761" y="148590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2" name="Shape 10"/>
          <p:cNvSpPr/>
          <p:nvPr/>
        </p:nvSpPr>
        <p:spPr>
          <a:xfrm>
            <a:off x="7352497" y="148590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3" name="Image 0" descr="img_softma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7009" y="1682496"/>
            <a:ext cx="4488983" cy="4169664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77009" y="1371600"/>
            <a:ext cx="4488983" cy="44805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FEATURE IMPACT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" y="1316736"/>
            <a:ext cx="6349225" cy="4590288"/>
          </a:xfrm>
          <a:prstGeom prst="roundRect">
            <a:avLst>
              <a:gd name="adj" fmla="val 1793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22960" y="1371600"/>
            <a:ext cx="6239497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27048"/>
            <a:ext cx="6239497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8" name="Shape 6"/>
          <p:cNvSpPr/>
          <p:nvPr/>
        </p:nvSpPr>
        <p:spPr>
          <a:xfrm>
            <a:off x="950976" y="148590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1124712" y="148590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0" name="Shape 8"/>
          <p:cNvSpPr/>
          <p:nvPr/>
        </p:nvSpPr>
        <p:spPr>
          <a:xfrm>
            <a:off x="1298448" y="148590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1" name="Image 0" descr="img_impac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82496"/>
            <a:ext cx="6239497" cy="4169664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1371600"/>
            <a:ext cx="6239497" cy="448056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955280" y="137160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11312" y="1508760"/>
            <a:ext cx="2916936" cy="4206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live waterfall shows exactly which feature tilts the game — Team 1 win rate and toss-to-bat favour RCB, Team 2 win rate pulls hardest toward CSK.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02920"/>
            <a:ext cx="457200" cy="457200"/>
          </a:xfrm>
          <a:prstGeom prst="ellipse">
            <a:avLst/>
          </a:prstGeom>
          <a:solidFill>
            <a:srgbClr val="1E1E1E"/>
          </a:solidFill>
          <a:ln w="19050">
            <a:solidFill>
              <a:srgbClr val="FFC72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1444752" y="475488"/>
            <a:ext cx="989380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5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LIVE PREDICTION DEMO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8096" y="2093976"/>
            <a:ext cx="5321808" cy="2733729"/>
          </a:xfrm>
          <a:prstGeom prst="roundRect">
            <a:avLst>
              <a:gd name="adj" fmla="val 3010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6" name="Shape 4"/>
          <p:cNvSpPr/>
          <p:nvPr/>
        </p:nvSpPr>
        <p:spPr>
          <a:xfrm>
            <a:off x="822960" y="2148840"/>
            <a:ext cx="5212080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304288"/>
            <a:ext cx="5212080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8" name="Shape 6"/>
          <p:cNvSpPr/>
          <p:nvPr/>
        </p:nvSpPr>
        <p:spPr>
          <a:xfrm>
            <a:off x="950976" y="226314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9" name="Shape 7"/>
          <p:cNvSpPr/>
          <p:nvPr/>
        </p:nvSpPr>
        <p:spPr>
          <a:xfrm>
            <a:off x="1124712" y="226314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0" name="Shape 8"/>
          <p:cNvSpPr/>
          <p:nvPr/>
        </p:nvSpPr>
        <p:spPr>
          <a:xfrm>
            <a:off x="1298448" y="226314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1" name="Image 0" descr="img_fix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459736"/>
            <a:ext cx="5212080" cy="231310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22960" y="2148840"/>
            <a:ext cx="5212080" cy="2624001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0864" y="2093976"/>
            <a:ext cx="5209992" cy="2852928"/>
          </a:xfrm>
          <a:prstGeom prst="roundRect">
            <a:avLst>
              <a:gd name="adj" fmla="val 2885"/>
            </a:avLst>
          </a:prstGeom>
          <a:solidFill>
            <a:srgbClr val="000000">
              <a:alpha val="45000"/>
            </a:srgbClr>
          </a:solidFill>
        </p:spPr>
      </p:sp>
      <p:sp>
        <p:nvSpPr>
          <p:cNvPr id="14" name="Shape 11"/>
          <p:cNvSpPr/>
          <p:nvPr/>
        </p:nvSpPr>
        <p:spPr>
          <a:xfrm>
            <a:off x="6265728" y="2148840"/>
            <a:ext cx="5100264" cy="310896"/>
          </a:xfrm>
          <a:prstGeom prst="roundRect">
            <a:avLst>
              <a:gd name="adj" fmla="val 20588"/>
            </a:avLst>
          </a:prstGeom>
          <a:solidFill>
            <a:srgbClr val="2A2A2A"/>
          </a:solidFill>
          <a:ln w="9525">
            <a:solidFill>
              <a:srgbClr val="3A3A3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5728" y="2304288"/>
            <a:ext cx="5100264" cy="155448"/>
          </a:xfrm>
          <a:prstGeom prst="rect">
            <a:avLst/>
          </a:prstGeom>
          <a:solidFill>
            <a:srgbClr val="2A2A2A"/>
          </a:solidFill>
        </p:spPr>
      </p:sp>
      <p:sp>
        <p:nvSpPr>
          <p:cNvPr id="16" name="Shape 13"/>
          <p:cNvSpPr/>
          <p:nvPr/>
        </p:nvSpPr>
        <p:spPr>
          <a:xfrm>
            <a:off x="6393744" y="2263140"/>
            <a:ext cx="82296" cy="82296"/>
          </a:xfrm>
          <a:prstGeom prst="ellipse">
            <a:avLst/>
          </a:prstGeom>
          <a:solidFill>
            <a:srgbClr val="FF5F57"/>
          </a:solidFill>
        </p:spPr>
      </p:sp>
      <p:sp>
        <p:nvSpPr>
          <p:cNvPr id="17" name="Shape 14"/>
          <p:cNvSpPr/>
          <p:nvPr/>
        </p:nvSpPr>
        <p:spPr>
          <a:xfrm>
            <a:off x="6567480" y="2263140"/>
            <a:ext cx="82296" cy="82296"/>
          </a:xfrm>
          <a:prstGeom prst="ellipse">
            <a:avLst/>
          </a:prstGeom>
          <a:solidFill>
            <a:srgbClr val="FEBC2E"/>
          </a:solidFill>
        </p:spPr>
      </p:sp>
      <p:sp>
        <p:nvSpPr>
          <p:cNvPr id="18" name="Shape 15"/>
          <p:cNvSpPr/>
          <p:nvPr/>
        </p:nvSpPr>
        <p:spPr>
          <a:xfrm>
            <a:off x="6741216" y="2263140"/>
            <a:ext cx="82296" cy="82296"/>
          </a:xfrm>
          <a:prstGeom prst="ellipse">
            <a:avLst/>
          </a:prstGeom>
          <a:solidFill>
            <a:srgbClr val="28C840"/>
          </a:solidFill>
        </p:spPr>
      </p:sp>
      <p:pic>
        <p:nvPicPr>
          <p:cNvPr id="19" name="Image 1" descr="img_pr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728" y="2459736"/>
            <a:ext cx="5100264" cy="2432304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265728" y="2148840"/>
            <a:ext cx="5100264" cy="2743200"/>
          </a:xfrm>
          <a:prstGeom prst="rect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822960" y="5532120"/>
            <a:ext cx="10543032" cy="914400"/>
          </a:xfrm>
          <a:prstGeom prst="roundRect">
            <a:avLst>
              <a:gd name="adj" fmla="val 8000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1078992" y="5669280"/>
            <a:ext cx="10030968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6D6D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 any fixture, venue, toss winner, and decision — Match State returns instant, explainable win probabilities through a clean Streamlit interface.</a:t>
            </a:r>
            <a:endParaRPr lang="en-US" sz="1350" dirty="0"/>
          </a:p>
        </p:txBody>
      </p:sp>
      <p:sp>
        <p:nvSpPr>
          <p:cNvPr id="23" name="Text 19"/>
          <p:cNvSpPr txBox="1"/>
          <p:nvPr/>
        </p:nvSpPr>
        <p:spPr>
          <a:xfrm>
            <a:off x="457200" y="6528816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 STATE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274552" y="6528816"/>
            <a:ext cx="457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-2377440"/>
            <a:ext cx="5486400" cy="5486400"/>
          </a:xfrm>
          <a:prstGeom prst="ellipse">
            <a:avLst/>
          </a:prstGeom>
          <a:ln w="15875">
            <a:solidFill>
              <a:srgbClr val="8A7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3840480"/>
            <a:ext cx="5029200" cy="5029200"/>
          </a:xfrm>
          <a:prstGeom prst="ellipse">
            <a:avLst/>
          </a:prstGeom>
          <a:ln w="12700">
            <a:solidFill>
              <a:srgbClr val="3A3A3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91440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100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86000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9C9C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on the math, the data, or the deployment — happy to walk through any layer.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10515600" cy="1097280"/>
          </a:xfrm>
          <a:prstGeom prst="roundRect">
            <a:avLst>
              <a:gd name="adj" fmla="val 6667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31927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TECH STACK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611880"/>
            <a:ext cx="100584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C72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Python  ·  NumPy / Pandas  ·  Scikit-learn  ·  Streamlit  ·  SQLite  ·  Git &amp; GitHub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572000"/>
            <a:ext cx="10515600" cy="1371600"/>
          </a:xfrm>
          <a:prstGeom prst="roundRect">
            <a:avLst>
              <a:gd name="adj" fmla="val 5333"/>
            </a:avLst>
          </a:prstGeom>
          <a:solidFill>
            <a:srgbClr val="1E1E1E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560" y="4700016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2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PROJECT TEAM  ·  SEC 09  ·  TEAM 21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010912"/>
            <a:ext cx="36576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Vinay Bandla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2520030437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5010912"/>
            <a:ext cx="41148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S. Pujith Pavan Kumar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2520030029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62636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9C9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KL University  ·  Machine Learning (25SC2107E)  ·  Y25 — 2026-2027 Trimester 4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2950</Words>
  <Application>WPS Presentation</Application>
  <PresentationFormat>On-screen Show (16:9)</PresentationFormat>
  <Paragraphs>156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Venkata Rama Vinay Bandla</cp:lastModifiedBy>
  <cp:revision>2</cp:revision>
  <dcterms:created xsi:type="dcterms:W3CDTF">2026-09-11T08:33:00Z</dcterms:created>
  <dcterms:modified xsi:type="dcterms:W3CDTF">2026-09-11T08:35:41Z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1076E750917F41928D3BE8930A029D9B_12</vt:lpwstr>
  </property>
  <property fmtid="{D5CDD505-2E9C-101B-9397-08002B2CF9AE}" pid="3" name="KSOProductBuildVer">
    <vt:lpwstr>2057-12.2.0.23206</vt:lpwstr>
  </property>
</Properties>
</file>